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Planned</c:v>
                </c:pt>
              </c:strCache>
            </c:strRef>
          </c:tx>
          <c:spPr>
            <a:solidFill>
              <a:srgbClr val="007FB0"/>
            </a:solidFill>
            <a:effectLst/>
          </c:spPr>
          <c:invertIfNegative val="0"/>
          <c:dLbls>
            <c:numFmt formatCode="0.###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Energy
(kcal/ton)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317.5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79D9FF"/>
            </a:solidFill>
            <a:effectLst/>
          </c:spPr>
          <c:invertIfNegative val="0"/>
          <c:dLbls>
            <c:numFmt formatCode="0.###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Energy
(kcal/ton)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335.6</c:v>
                </c:pt>
              </c:numCache>
            </c:numRef>
          </c:val>
        </c:ser>
        <c:dLbls>
          <c:numFmt formatCode="0.###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0.###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Planned</c:v>
                </c:pt>
              </c:strCache>
            </c:strRef>
          </c:tx>
          <c:spPr>
            <a:solidFill>
              <a:srgbClr val="007FB0"/>
            </a:solidFill>
            <a:effectLst/>
          </c:spPr>
          <c:invertIfNegative val="0"/>
          <c:dLbls>
            <c:numFmt formatCode="0.###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Cost
($/ton)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0.53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79D9FF"/>
            </a:solidFill>
            <a:effectLst/>
          </c:spPr>
          <c:invertIfNegative val="0"/>
          <c:dLbls>
            <c:numFmt formatCode="0.###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Cost
($/ton)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0.52</c:v>
                </c:pt>
              </c:numCache>
            </c:numRef>
          </c:val>
        </c:ser>
        <c:dLbls>
          <c:numFmt formatCode="0.###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0.###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Planned</c:v>
                </c:pt>
              </c:strCache>
            </c:strRef>
          </c:tx>
          <c:spPr>
            <a:solidFill>
              <a:srgbClr val="007FB0"/>
            </a:solidFill>
            <a:effectLst/>
          </c:spPr>
          <c:invertIfNegative val="0"/>
          <c:dLbls>
            <c:numFmt formatCode="0.###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Energy
(kcal/ton)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317.5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79D9FF"/>
            </a:solidFill>
            <a:effectLst/>
          </c:spPr>
          <c:invertIfNegative val="0"/>
          <c:dLbls>
            <c:numFmt formatCode="0.###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Energy
(kcal/ton)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335.6</c:v>
                </c:pt>
              </c:numCache>
            </c:numRef>
          </c:val>
        </c:ser>
        <c:dLbls>
          <c:numFmt formatCode="0.###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0.###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Planned</c:v>
                </c:pt>
              </c:strCache>
            </c:strRef>
          </c:tx>
          <c:spPr>
            <a:solidFill>
              <a:srgbClr val="007FB0"/>
            </a:solidFill>
            <a:effectLst/>
          </c:spPr>
          <c:invertIfNegative val="0"/>
          <c:dLbls>
            <c:numFmt formatCode="0.###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Cost
($/ton)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0.53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79D9FF"/>
            </a:solidFill>
            <a:effectLst/>
          </c:spPr>
          <c:invertIfNegative val="0"/>
          <c:dLbls>
            <c:numFmt formatCode="0.###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Cost
($/ton)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0.52</c:v>
                </c:pt>
              </c:numCache>
            </c:numRef>
          </c:val>
        </c:ser>
        <c:dLbls>
          <c:numFmt formatCode="0.###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0.###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Planned</c:v>
                </c:pt>
              </c:strCache>
            </c:strRef>
          </c:tx>
          <c:spPr>
            <a:solidFill>
              <a:srgbClr val="007FB0"/>
            </a:solidFill>
            <a:effectLst/>
          </c:spPr>
          <c:invertIfNegative val="0"/>
          <c:dLbls>
            <c:numFmt formatCode="0.###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Energy
(kcal/ton)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317.5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79D9FF"/>
            </a:solidFill>
            <a:effectLst/>
          </c:spPr>
          <c:invertIfNegative val="0"/>
          <c:dLbls>
            <c:numFmt formatCode="0.###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Energy
(kcal/ton)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335.6</c:v>
                </c:pt>
              </c:numCache>
            </c:numRef>
          </c:val>
        </c:ser>
        <c:dLbls>
          <c:numFmt formatCode="0.###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0.###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Planned</c:v>
                </c:pt>
              </c:strCache>
            </c:strRef>
          </c:tx>
          <c:spPr>
            <a:solidFill>
              <a:srgbClr val="007FB0"/>
            </a:solidFill>
            <a:effectLst/>
          </c:spPr>
          <c:invertIfNegative val="0"/>
          <c:dLbls>
            <c:numFmt formatCode="0.###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Cost
($/ton)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0.53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79D9FF"/>
            </a:solidFill>
            <a:effectLst/>
          </c:spPr>
          <c:invertIfNegative val="0"/>
          <c:dLbls>
            <c:numFmt formatCode="0.###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Cost
($/ton)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0.52</c:v>
                </c:pt>
              </c:numCache>
            </c:numRef>
          </c:val>
        </c:ser>
        <c:dLbls>
          <c:numFmt formatCode="0.###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0.###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REEPORT_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atronro/Documents/Codex/v2PresBuild/assets/freeport-template/bg-title-mas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REEPORT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atronro/Documents/Codex/v2PresBuild/assets/freeport-template/bg-content-mas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404872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Freeport Layout Corpus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85800" y="35661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Renderer Variations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88368" y="6720840"/>
            <a:ext cx="100584" cy="118872"/>
          </a:xfrm>
          <a:prstGeom prst="rect">
            <a:avLst/>
          </a:prstGeom>
          <a:solidFill>
            <a:srgbClr val="E7E6E6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088368" y="6720840"/>
            <a:ext cx="1005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9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31343" y="192024"/>
            <a:ext cx="81838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 Variation: summary_card.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448" y="1783080"/>
            <a:ext cx="1097280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768" y="210312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9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slide demonstrates a single renderer variation for developer review.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83768" y="3429000"/>
            <a:ext cx="10424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this slide to inspect spacing, hierarchy, and readability.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Variation naming is reflected directly in the title.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is synthetic and designed for visual QA only.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this slide with sibling variations of the same layout.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88368" y="6720840"/>
            <a:ext cx="100584" cy="118872"/>
          </a:xfrm>
          <a:prstGeom prst="rect">
            <a:avLst/>
          </a:prstGeom>
          <a:solidFill>
            <a:srgbClr val="E7E6E6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088368" y="6720840"/>
            <a:ext cx="1005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9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31343" y="192024"/>
            <a:ext cx="81838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 Variation: summary_band.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448" y="1783080"/>
            <a:ext cx="1097280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768" y="2084832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07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slide demonstrates a single renderer variation for developer review.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09448" y="3246120"/>
            <a:ext cx="5394960" cy="29718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87288" y="3246120"/>
            <a:ext cx="5394960" cy="29718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3768" y="35661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9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83768" y="4069080"/>
            <a:ext cx="47548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this slide to inspect spacing, hierarchy, and readability.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Variation naming is reflected directly in the title.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61608" y="35661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7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Implications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61608" y="4069080"/>
            <a:ext cx="47548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is synthetic and designed for visual QA only.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this slide with sibling variations of the same layout.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88368" y="6720840"/>
            <a:ext cx="100584" cy="118872"/>
          </a:xfrm>
          <a:prstGeom prst="rect">
            <a:avLst/>
          </a:prstGeom>
          <a:solidFill>
            <a:srgbClr val="E7E6E6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088368" y="6720840"/>
            <a:ext cx="1005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9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31343" y="192024"/>
            <a:ext cx="81838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 Variation: reconciliation.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448" y="1783080"/>
            <a:ext cx="10972800" cy="960120"/>
          </a:xfrm>
          <a:prstGeom prst="roundRect">
            <a:avLst>
              <a:gd name="adj" fmla="val 7619"/>
            </a:avLst>
          </a:prstGeom>
          <a:solidFill>
            <a:srgbClr val="F8FAF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768" y="1938528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007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slide demonstrates a single renderer variation for developer review.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09448" y="2907792"/>
            <a:ext cx="219456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2328" y="305409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P80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92328" y="341071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07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17.7 in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792328" y="39319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Observed outcome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986888" y="2907792"/>
            <a:ext cx="219456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69768" y="305409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 P80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169768" y="341071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07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10.1 in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3169768" y="39319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Backcast target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9448" y="4663440"/>
            <a:ext cx="219456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2328" y="48097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Vertical Accuracy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92328" y="516636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07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85.7%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792328" y="56875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modeled lever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986888" y="4663440"/>
            <a:ext cx="219456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69768" y="48097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Overdrill &gt; 2 ft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169768" y="516636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07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71.4%</a:t>
            </a:r>
            <a:endParaRPr lang="en-US" sz="2500" dirty="0"/>
          </a:p>
        </p:txBody>
      </p:sp>
      <p:sp>
        <p:nvSpPr>
          <p:cNvPr id="22" name="Text 20"/>
          <p:cNvSpPr/>
          <p:nvPr/>
        </p:nvSpPr>
        <p:spPr>
          <a:xfrm>
            <a:off x="3169768" y="56875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risk concentration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364328" y="2907792"/>
            <a:ext cx="6217920" cy="1764792"/>
          </a:xfrm>
          <a:prstGeom prst="roundRect">
            <a:avLst>
              <a:gd name="adj" fmla="val 4145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92928" y="3072384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9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 Column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592928" y="3493008"/>
            <a:ext cx="57607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this slide to inspect spacing, hierarchy, and readability.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Variation naming is reflected directly in the title.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Left-side structure and typography sample.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Bullet rhythm and spacing reference.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and margin behavior reference.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364328" y="4800600"/>
            <a:ext cx="6217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92928" y="4956048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7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Column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592928" y="5330952"/>
            <a:ext cx="5760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is synthetic and designed for visual QA only.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this slide with sibling variations of the same layout.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Right-side structure and typography sample.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Alternate panel style sample.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 content behavior reference.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88368" y="6720840"/>
            <a:ext cx="100584" cy="118872"/>
          </a:xfrm>
          <a:prstGeom prst="rect">
            <a:avLst/>
          </a:prstGeom>
          <a:solidFill>
            <a:srgbClr val="E7E6E6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088368" y="6720840"/>
            <a:ext cx="1005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9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31343" y="192024"/>
            <a:ext cx="81838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 Variation: two_column.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448" y="178308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87288" y="178308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3768" y="2103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9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 Column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83768" y="269748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Left-side structure and typography sample.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Bullet rhythm and spacing reference.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and margin behavior reference.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61608" y="2103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9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Column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61608" y="269748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Right-side structure and typography sample.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Alternate panel style sample.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 content behavior reference.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88368" y="6720840"/>
            <a:ext cx="100584" cy="118872"/>
          </a:xfrm>
          <a:prstGeom prst="rect">
            <a:avLst/>
          </a:prstGeom>
          <a:solidFill>
            <a:srgbClr val="E7E6E6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088368" y="6720840"/>
            <a:ext cx="1005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9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31343" y="192024"/>
            <a:ext cx="81838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 Variation: two_column_stagger.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448" y="178308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F8FAF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87288" y="178308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3768" y="21031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7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 Column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83768" y="269748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Left-side structure and typography sample.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Bullet rhythm and spacing reference.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and margin behavior reference.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61608" y="21031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9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Column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61608" y="269748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Right-side structure and typography sample.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Alternate panel style sample.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 content behavior reference.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88368" y="6720840"/>
            <a:ext cx="100584" cy="118872"/>
          </a:xfrm>
          <a:prstGeom prst="rect">
            <a:avLst/>
          </a:prstGeom>
          <a:solidFill>
            <a:srgbClr val="E7E6E6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088368" y="6720840"/>
            <a:ext cx="1005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9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31343" y="192024"/>
            <a:ext cx="81838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 Variation: two_column_image.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52832" y="1783080"/>
            <a:ext cx="557784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50712" y="1783080"/>
            <a:ext cx="5788152" cy="2057400"/>
          </a:xfrm>
          <a:prstGeom prst="roundRect">
            <a:avLst>
              <a:gd name="adj" fmla="val 3556"/>
            </a:avLst>
          </a:prstGeom>
          <a:solidFill>
            <a:srgbClr val="F8FAF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50712" y="4160520"/>
            <a:ext cx="5788152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33592" y="2039112"/>
            <a:ext cx="5422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7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 Column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333592" y="2468880"/>
            <a:ext cx="5422392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Left-side structure and typography sample.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Bullet rhythm and spacing reference.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and margin behavior reference.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33592" y="4416552"/>
            <a:ext cx="5422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9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Column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333592" y="4846320"/>
            <a:ext cx="5422392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Right-side structure and typography sample.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Alternate panel style sample.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 content behavior reference.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88368" y="6720840"/>
            <a:ext cx="100584" cy="118872"/>
          </a:xfrm>
          <a:prstGeom prst="rect">
            <a:avLst/>
          </a:prstGeom>
          <a:solidFill>
            <a:srgbClr val="E7E6E6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088368" y="6720840"/>
            <a:ext cx="1005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9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31343" y="192024"/>
            <a:ext cx="81838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 Variation: metrics.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448" y="182880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768" y="2011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P80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83768" y="24231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07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17.7 in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83768" y="31546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Observed outcome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87288" y="182880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61608" y="2011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 P80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61608" y="24231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07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10.1 in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461608" y="31546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Backcast target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09448" y="411480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3768" y="4297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Vertical Accuracy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83768" y="47091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07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85.7%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83768" y="54406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modeled lever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187288" y="411480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61608" y="4297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Overdrill &gt; 2 ft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61608" y="47091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07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71.4%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461608" y="54406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risk concentration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09448" y="6217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 this slide to inspect spacing, hierarchy, and readability.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Variation naming is reflected directly in the title.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88368" y="6720840"/>
            <a:ext cx="100584" cy="118872"/>
          </a:xfrm>
          <a:prstGeom prst="rect">
            <a:avLst/>
          </a:prstGeom>
          <a:solidFill>
            <a:srgbClr val="E7E6E6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088368" y="6720840"/>
            <a:ext cx="1005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9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31343" y="192024"/>
            <a:ext cx="81838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 Variation: metrics_strip.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448" y="1965960"/>
            <a:ext cx="257175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2328" y="2212848"/>
            <a:ext cx="22059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P80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92328" y="2560320"/>
            <a:ext cx="220599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7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17.7 in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92328" y="3291840"/>
            <a:ext cx="220599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Observed outcome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09798" y="1965960"/>
            <a:ext cx="2571750" cy="2331720"/>
          </a:xfrm>
          <a:prstGeom prst="roundRect">
            <a:avLst>
              <a:gd name="adj" fmla="val 3137"/>
            </a:avLst>
          </a:prstGeom>
          <a:solidFill>
            <a:srgbClr val="F8FAF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92678" y="2212848"/>
            <a:ext cx="22059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 P80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92678" y="2560320"/>
            <a:ext cx="220599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7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10.1 in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592678" y="3291840"/>
            <a:ext cx="220599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Backcast target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0148" y="1965960"/>
            <a:ext cx="257175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93028" y="2212848"/>
            <a:ext cx="22059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Vertical Accuracy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93028" y="2560320"/>
            <a:ext cx="220599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7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85.7%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393028" y="3291840"/>
            <a:ext cx="220599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modeled lever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010498" y="1965960"/>
            <a:ext cx="2571750" cy="2331720"/>
          </a:xfrm>
          <a:prstGeom prst="roundRect">
            <a:avLst>
              <a:gd name="adj" fmla="val 3137"/>
            </a:avLst>
          </a:prstGeom>
          <a:solidFill>
            <a:srgbClr val="F8FAF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93378" y="2212848"/>
            <a:ext cx="22059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Overdrill &gt; 2 ft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93378" y="2560320"/>
            <a:ext cx="220599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7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71.4%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193378" y="3291840"/>
            <a:ext cx="220599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risk concentration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9448" y="4526280"/>
            <a:ext cx="109728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3768" y="48006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7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Means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83768" y="525780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this slide to inspect spacing, hierarchy, and readability.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Variation naming is reflected directly in the title.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is synthetic and designed for visual QA only.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88368" y="6720840"/>
            <a:ext cx="100584" cy="118872"/>
          </a:xfrm>
          <a:prstGeom prst="rect">
            <a:avLst/>
          </a:prstGeom>
          <a:solidFill>
            <a:srgbClr val="E7E6E6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088368" y="6720840"/>
            <a:ext cx="1005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9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31343" y="192024"/>
            <a:ext cx="81838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 Variation: chart_bar.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448" y="1627632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9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 vs Actual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244688" y="1645920"/>
            <a:ext cx="109728" cy="109728"/>
          </a:xfrm>
          <a:prstGeom prst="rect">
            <a:avLst/>
          </a:prstGeom>
          <a:solidFill>
            <a:srgbClr val="007FB0"/>
          </a:solidFill>
          <a:ln w="12700">
            <a:solidFill>
              <a:srgbClr val="007FB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00136" y="162763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799168" y="1645920"/>
            <a:ext cx="109728" cy="109728"/>
          </a:xfrm>
          <a:prstGeom prst="rect">
            <a:avLst/>
          </a:prstGeom>
          <a:solidFill>
            <a:srgbClr val="79D9FF"/>
          </a:solidFill>
          <a:ln w="12700">
            <a:solidFill>
              <a:srgbClr val="79D9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54616" y="162763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09448" y="1993392"/>
            <a:ext cx="5372100" cy="2807208"/>
          </a:xfrm>
          <a:prstGeom prst="roundRect">
            <a:avLst>
              <a:gd name="adj" fmla="val 260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4040" y="2139696"/>
            <a:ext cx="50429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9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(kcal/ton)</a:t>
            </a:r>
            <a:endParaRPr lang="en-US" sz="11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719176" y="2377440"/>
          <a:ext cx="5152644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Shape 10"/>
          <p:cNvSpPr/>
          <p:nvPr/>
        </p:nvSpPr>
        <p:spPr>
          <a:xfrm>
            <a:off x="6210148" y="1993392"/>
            <a:ext cx="5372100" cy="2807208"/>
          </a:xfrm>
          <a:prstGeom prst="roundRect">
            <a:avLst>
              <a:gd name="adj" fmla="val 2606"/>
            </a:avLst>
          </a:prstGeom>
          <a:solidFill>
            <a:srgbClr val="F8FAF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74740" y="2139696"/>
            <a:ext cx="50429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9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($/ton)</a:t>
            </a:r>
            <a:endParaRPr lang="en-US" sz="1100" dirty="0"/>
          </a:p>
        </p:txBody>
      </p:sp>
      <p:graphicFrame>
        <p:nvGraphicFramePr>
          <p:cNvPr id="15" name="Chart 1" descr=""/>
          <p:cNvGraphicFramePr/>
          <p:nvPr/>
        </p:nvGraphicFramePr>
        <p:xfrm>
          <a:off x="6319876" y="2377440"/>
          <a:ext cx="5152644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Shape 12"/>
          <p:cNvSpPr/>
          <p:nvPr/>
        </p:nvSpPr>
        <p:spPr>
          <a:xfrm>
            <a:off x="609448" y="4983480"/>
            <a:ext cx="1097280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83768" y="5138928"/>
            <a:ext cx="104241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950" i="1" dirty="0">
                <a:solidFill>
                  <a:srgbClr val="09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this slide to inspect spacing, hierarchy, and readability.</a:t>
            </a:r>
            <a:endParaRPr lang="en-US" sz="950" dirty="0"/>
          </a:p>
          <a:p>
            <a:pPr marL="228600" indent="-228600">
              <a:buSzPct val="100000"/>
              <a:buChar char="•"/>
            </a:pPr>
            <a:r>
              <a:rPr lang="en-US" sz="950" i="1" dirty="0">
                <a:solidFill>
                  <a:srgbClr val="09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Variation naming is reflected directly in the title.</a:t>
            </a:r>
            <a:endParaRPr lang="en-US" sz="950" dirty="0"/>
          </a:p>
          <a:p>
            <a:pPr marL="228600" indent="-228600">
              <a:buSzPct val="100000"/>
              <a:buChar char="•"/>
            </a:pPr>
            <a:r>
              <a:rPr lang="en-US" sz="950" i="1" dirty="0">
                <a:solidFill>
                  <a:srgbClr val="09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is synthetic and designed for visual QA only.</a:t>
            </a:r>
            <a:endParaRPr lang="en-US" sz="950" dirty="0"/>
          </a:p>
          <a:p>
            <a:pPr marL="228600" indent="-228600">
              <a:buSzPct val="100000"/>
              <a:buChar char="•"/>
            </a:pPr>
            <a:r>
              <a:rPr lang="en-US" sz="950" i="1" dirty="0">
                <a:solidFill>
                  <a:srgbClr val="09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this slide with sibling variations of the same layout.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88368" y="6720840"/>
            <a:ext cx="100584" cy="118872"/>
          </a:xfrm>
          <a:prstGeom prst="rect">
            <a:avLst/>
          </a:prstGeom>
          <a:solidFill>
            <a:srgbClr val="E7E6E6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088368" y="6720840"/>
            <a:ext cx="1005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9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31343" y="192024"/>
            <a:ext cx="81838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 Variation: chart_bar_focus.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448" y="1627632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9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 vs Actual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244688" y="1645920"/>
            <a:ext cx="109728" cy="109728"/>
          </a:xfrm>
          <a:prstGeom prst="rect">
            <a:avLst/>
          </a:prstGeom>
          <a:solidFill>
            <a:srgbClr val="007FB0"/>
          </a:solidFill>
          <a:ln w="12700">
            <a:solidFill>
              <a:srgbClr val="007FB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00136" y="162763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799168" y="1645920"/>
            <a:ext cx="109728" cy="109728"/>
          </a:xfrm>
          <a:prstGeom prst="rect">
            <a:avLst/>
          </a:prstGeom>
          <a:solidFill>
            <a:srgbClr val="79D9FF"/>
          </a:solidFill>
          <a:ln w="12700">
            <a:solidFill>
              <a:srgbClr val="79D9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54616" y="162763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09448" y="1993392"/>
            <a:ext cx="5372100" cy="2807208"/>
          </a:xfrm>
          <a:prstGeom prst="roundRect">
            <a:avLst>
              <a:gd name="adj" fmla="val 260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4040" y="2139696"/>
            <a:ext cx="50429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9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(kcal/ton)</a:t>
            </a:r>
            <a:endParaRPr lang="en-US" sz="11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719176" y="2377440"/>
          <a:ext cx="5152644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Shape 10"/>
          <p:cNvSpPr/>
          <p:nvPr/>
        </p:nvSpPr>
        <p:spPr>
          <a:xfrm>
            <a:off x="6210148" y="1993392"/>
            <a:ext cx="5372100" cy="2807208"/>
          </a:xfrm>
          <a:prstGeom prst="roundRect">
            <a:avLst>
              <a:gd name="adj" fmla="val 2606"/>
            </a:avLst>
          </a:prstGeom>
          <a:solidFill>
            <a:srgbClr val="F8FAF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74740" y="2139696"/>
            <a:ext cx="50429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9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($/ton)</a:t>
            </a:r>
            <a:endParaRPr lang="en-US" sz="1100" dirty="0"/>
          </a:p>
        </p:txBody>
      </p:sp>
      <p:graphicFrame>
        <p:nvGraphicFramePr>
          <p:cNvPr id="15" name="Chart 1" descr=""/>
          <p:cNvGraphicFramePr/>
          <p:nvPr/>
        </p:nvGraphicFramePr>
        <p:xfrm>
          <a:off x="6319876" y="2377440"/>
          <a:ext cx="5152644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Shape 12"/>
          <p:cNvSpPr/>
          <p:nvPr/>
        </p:nvSpPr>
        <p:spPr>
          <a:xfrm>
            <a:off x="609448" y="4983480"/>
            <a:ext cx="1097280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83768" y="5138928"/>
            <a:ext cx="104241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950" i="1" dirty="0">
                <a:solidFill>
                  <a:srgbClr val="09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this slide to inspect spacing, hierarchy, and readability.</a:t>
            </a:r>
            <a:endParaRPr lang="en-US" sz="950" dirty="0"/>
          </a:p>
          <a:p>
            <a:pPr marL="228600" indent="-228600">
              <a:buSzPct val="100000"/>
              <a:buChar char="•"/>
            </a:pPr>
            <a:r>
              <a:rPr lang="en-US" sz="950" i="1" dirty="0">
                <a:solidFill>
                  <a:srgbClr val="09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Variation naming is reflected directly in the title.</a:t>
            </a:r>
            <a:endParaRPr lang="en-US" sz="950" dirty="0"/>
          </a:p>
          <a:p>
            <a:pPr marL="228600" indent="-228600">
              <a:buSzPct val="100000"/>
              <a:buChar char="•"/>
            </a:pPr>
            <a:r>
              <a:rPr lang="en-US" sz="950" i="1" dirty="0">
                <a:solidFill>
                  <a:srgbClr val="09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is synthetic and designed for visual QA only.</a:t>
            </a:r>
            <a:endParaRPr lang="en-US" sz="950" dirty="0"/>
          </a:p>
          <a:p>
            <a:pPr marL="228600" indent="-228600">
              <a:buSzPct val="100000"/>
              <a:buChar char="•"/>
            </a:pPr>
            <a:r>
              <a:rPr lang="en-US" sz="950" i="1" dirty="0">
                <a:solidFill>
                  <a:srgbClr val="09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this slide with sibling variations of the same layout.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88368" y="6720840"/>
            <a:ext cx="100584" cy="118872"/>
          </a:xfrm>
          <a:prstGeom prst="rect">
            <a:avLst/>
          </a:prstGeom>
          <a:solidFill>
            <a:srgbClr val="E7E6E6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088368" y="6720840"/>
            <a:ext cx="1005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9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31343" y="192024"/>
            <a:ext cx="81838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 Variation: chart_bar_image.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70536" y="1783080"/>
            <a:ext cx="612648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61608" y="1783080"/>
            <a:ext cx="5120640" cy="2514600"/>
          </a:xfrm>
          <a:prstGeom prst="roundRect">
            <a:avLst>
              <a:gd name="adj" fmla="val 2909"/>
            </a:avLst>
          </a:prstGeom>
          <a:solidFill>
            <a:srgbClr val="F8FAF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1920" y="19659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7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 vs Actual</a:t>
            </a:r>
            <a:endParaRPr lang="en-US" sz="11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671920" y="2331720"/>
          <a:ext cx="2322576" cy="15727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Chart 1" descr=""/>
          <p:cNvGraphicFramePr/>
          <p:nvPr/>
        </p:nvGraphicFramePr>
        <p:xfrm>
          <a:off x="9104224" y="2331720"/>
          <a:ext cx="2322576" cy="15727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Shape 6"/>
          <p:cNvSpPr/>
          <p:nvPr/>
        </p:nvSpPr>
        <p:spPr>
          <a:xfrm>
            <a:off x="7526884" y="3959352"/>
            <a:ext cx="100584" cy="100584"/>
          </a:xfrm>
          <a:prstGeom prst="rect">
            <a:avLst/>
          </a:prstGeom>
          <a:solidFill>
            <a:srgbClr val="007FB0"/>
          </a:solidFill>
          <a:ln w="12700">
            <a:solidFill>
              <a:srgbClr val="007FB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837780" y="3922776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9181948" y="3959352"/>
            <a:ext cx="100584" cy="100584"/>
          </a:xfrm>
          <a:prstGeom prst="rect">
            <a:avLst/>
          </a:prstGeom>
          <a:solidFill>
            <a:srgbClr val="79D9FF"/>
          </a:solidFill>
          <a:ln w="12700">
            <a:solidFill>
              <a:srgbClr val="79D9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9492844" y="392277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461608" y="4480560"/>
            <a:ext cx="51206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671920" y="46451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9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6671920" y="5065776"/>
            <a:ext cx="4754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this slide to inspect spacing, hierarchy, and readability.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Variation naming is reflected directly in the title.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is synthetic and designed for visual QA only.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this slide with sibling variations of the same layout.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88368" y="6720840"/>
            <a:ext cx="100584" cy="118872"/>
          </a:xfrm>
          <a:prstGeom prst="rect">
            <a:avLst/>
          </a:prstGeom>
          <a:solidFill>
            <a:srgbClr val="E7E6E6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088368" y="6720840"/>
            <a:ext cx="1005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9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31343" y="192024"/>
            <a:ext cx="81838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 Variation: action_split.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448" y="178308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87288" y="178308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F8FAF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3768" y="2103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9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 Column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83768" y="269748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Left-side structure and typography sample.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Bullet rhythm and spacing reference.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and margin behavior reference.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61608" y="2103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7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Column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61608" y="269748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Right-side structure and typography sample.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Alternate panel style sample.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 content behavior reference.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88368" y="6720840"/>
            <a:ext cx="100584" cy="118872"/>
          </a:xfrm>
          <a:prstGeom prst="rect">
            <a:avLst/>
          </a:prstGeom>
          <a:solidFill>
            <a:srgbClr val="E7E6E6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088368" y="6720840"/>
            <a:ext cx="1005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9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31343" y="192024"/>
            <a:ext cx="81838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 Variation: action_checklist.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448" y="1783080"/>
            <a:ext cx="4206240" cy="4434840"/>
          </a:xfrm>
          <a:prstGeom prst="roundRect">
            <a:avLst>
              <a:gd name="adj" fmla="val 1739"/>
            </a:avLst>
          </a:prstGeom>
          <a:solidFill>
            <a:srgbClr val="F8FAF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90008" y="1783080"/>
            <a:ext cx="649224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3768" y="21031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7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 Column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83768" y="2606040"/>
            <a:ext cx="3657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Left-side structure and typography sample.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Bullet rhythm and spacing reference.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and margin behavior reference.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364328" y="210312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9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Column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364328" y="2606040"/>
            <a:ext cx="5943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Right-side structure and typography sample.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Alternate panel style sample.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Mixed content behavior reference.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Freeport-McMoRan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Freeport template defaults for PptxGenJS</dc:subject>
  <dc:creator>Freeport Defaults</dc:creator>
  <cp:lastModifiedBy>Freeport Defaults</cp:lastModifiedBy>
  <cp:revision>1</cp:revision>
  <dcterms:created xsi:type="dcterms:W3CDTF">2026-03-07T14:03:25Z</dcterms:created>
  <dcterms:modified xsi:type="dcterms:W3CDTF">2026-03-07T14:03:25Z</dcterms:modified>
</cp:coreProperties>
</file>